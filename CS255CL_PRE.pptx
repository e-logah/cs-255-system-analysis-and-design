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 name="Shape 24"/>
          <p:cNvSpPr/>
          <p:nvPr>
            <p:ph type="sldImg"/>
          </p:nvPr>
        </p:nvSpPr>
        <p:spPr>
          <a:prstGeom prst="rect">
            <a:avLst/>
          </a:prstGeom>
        </p:spPr>
        <p:txBody>
          <a:bodyPr/>
          <a:lstStyle/>
          <a:p>
            <a:pPr/>
          </a:p>
        </p:txBody>
      </p:sp>
      <p:sp>
        <p:nvSpPr>
          <p:cNvPr id="25" name="Shape 25"/>
          <p:cNvSpPr/>
          <p:nvPr>
            <p:ph type="body" sz="quarter" idx="1"/>
          </p:nvPr>
        </p:nvSpPr>
        <p:spPr>
          <a:prstGeom prst="rect">
            <a:avLst/>
          </a:prstGeom>
        </p:spPr>
        <p:txBody>
          <a:bodyPr/>
          <a:lstStyle/>
          <a:p>
            <a:pPr/>
            <a:r>
              <a:t>This presentation summarizes the proposed DriverPass system design for the client. The focus is not on technical implementation details alone, but on how the design solves the business problems DriverPass described: online training, practice tests, lesson scheduling, driver and vehicle assignment, security, reporting, audit tracking, and current DMV content. The diagrams are used to make the system easier to understand for business stakeholders and to show that the design connects directly to the client needs.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32"/>
          <p:cNvSpPr/>
          <p:nvPr>
            <p:ph type="sldImg"/>
          </p:nvPr>
        </p:nvSpPr>
        <p:spPr>
          <a:prstGeom prst="rect">
            <a:avLst/>
          </a:prstGeom>
        </p:spPr>
        <p:txBody>
          <a:bodyPr/>
          <a:lstStyle/>
          <a:p>
            <a:pPr/>
          </a:p>
        </p:txBody>
      </p:sp>
      <p:sp>
        <p:nvSpPr>
          <p:cNvPr id="33" name="Shape 33"/>
          <p:cNvSpPr/>
          <p:nvPr>
            <p:ph type="body" sz="quarter" idx="1"/>
          </p:nvPr>
        </p:nvSpPr>
        <p:spPr>
          <a:prstGeom prst="rect">
            <a:avLst/>
          </a:prstGeom>
        </p:spPr>
        <p:txBody>
          <a:bodyPr/>
          <a:lstStyle/>
          <a:p>
            <a:pPr/>
            <a:r>
              <a:t>The functional requirements describe what the system must do for DriverPass. These include registration, scheduling, package selection, practice testing, report generation, and account management. The nonfunctional requirements describe how the system should perform and be protected. DriverPass asked for web access from different devices, a system that avoids local maintenance problems, different access rights for different users, and tracking for changes. These requirements support the company’s goal of helping customers prepare for driving tests while keeping business operations organized and secure.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Shape 41"/>
          <p:cNvSpPr/>
          <p:nvPr>
            <p:ph type="sldImg"/>
          </p:nvPr>
        </p:nvSpPr>
        <p:spPr>
          <a:prstGeom prst="rect">
            <a:avLst/>
          </a:prstGeom>
        </p:spPr>
        <p:txBody>
          <a:bodyPr/>
          <a:lstStyle/>
          <a:p>
            <a:pPr/>
          </a:p>
        </p:txBody>
      </p:sp>
      <p:sp>
        <p:nvSpPr>
          <p:cNvPr id="42" name="Shape 42"/>
          <p:cNvSpPr/>
          <p:nvPr>
            <p:ph type="body" sz="quarter" idx="1"/>
          </p:nvPr>
        </p:nvSpPr>
        <p:spPr>
          <a:prstGeom prst="rect">
            <a:avLst/>
          </a:prstGeom>
        </p:spPr>
        <p:txBody>
          <a:bodyPr/>
          <a:lstStyle/>
          <a:p>
            <a:pPr/>
            <a:r>
              <a:t>This diagram explains who uses the DriverPass system and what each group needs from it. It is important because it connects the design directly to DriverPass business needs. Customers need self-service options. Secretaries need to support customers who call or visit the office. The owner needs reports and package control. The IT administrator needs account and access control. The DMV system provides external updates. The include and extend labels make the design more precise by showing which supporting actions are required and which actions happen only under certain conditions.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50"/>
          <p:cNvSpPr/>
          <p:nvPr>
            <p:ph type="sldImg"/>
          </p:nvPr>
        </p:nvSpPr>
        <p:spPr>
          <a:prstGeom prst="rect">
            <a:avLst/>
          </a:prstGeom>
        </p:spPr>
        <p:txBody>
          <a:bodyPr/>
          <a:lstStyle/>
          <a:p>
            <a:pPr/>
          </a:p>
        </p:txBody>
      </p:sp>
      <p:sp>
        <p:nvSpPr>
          <p:cNvPr id="51" name="Shape 51"/>
          <p:cNvSpPr/>
          <p:nvPr>
            <p:ph type="body" sz="quarter" idx="1"/>
          </p:nvPr>
        </p:nvSpPr>
        <p:spPr>
          <a:prstGeom prst="rect">
            <a:avLst/>
          </a:prstGeom>
        </p:spPr>
        <p:txBody>
          <a:bodyPr/>
          <a:lstStyle/>
          <a:p>
            <a:pPr/>
            <a:r>
              <a:t>This activity diagram focuses on the most important business workflow in DriverPass: scheduling a driving lesson. Liam explained that each driving session is two hours long and that DriverPass must track the customer, driver, car, time, and location. The design prevents scheduling conflicts by checking the requested slot before confirming the appointment. It also supports accountability because the system records who created or changed the reservation. The confirmation step helps ensure customers know their appointment details.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 name="Shape 59"/>
          <p:cNvSpPr/>
          <p:nvPr>
            <p:ph type="sldImg"/>
          </p:nvPr>
        </p:nvSpPr>
        <p:spPr>
          <a:prstGeom prst="rect">
            <a:avLst/>
          </a:prstGeom>
        </p:spPr>
        <p:txBody>
          <a:bodyPr/>
          <a:lstStyle/>
          <a:p>
            <a:pPr/>
          </a:p>
        </p:txBody>
      </p:sp>
      <p:sp>
        <p:nvSpPr>
          <p:cNvPr id="60" name="Shape 60"/>
          <p:cNvSpPr/>
          <p:nvPr>
            <p:ph type="body" sz="quarter" idx="1"/>
          </p:nvPr>
        </p:nvSpPr>
        <p:spPr>
          <a:prstGeom prst="rect">
            <a:avLst/>
          </a:prstGeom>
        </p:spPr>
        <p:txBody>
          <a:bodyPr/>
          <a:lstStyle/>
          <a:p>
            <a:pPr/>
            <a:r>
              <a:t>The sequence diagram explains the order of messages that happen when a customer schedules a lesson. This fixes the earlier readability issue by using large labels and a clear numbered order. The diagram shows how the customer request moves from the web portal to the scheduling service, then to the database, and finally to the notification service. This matters to DriverPass because the system must not only show available times, but also save the correct driver, car, reservation, and audit information before confirming the appointment.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 name="Shape 68"/>
          <p:cNvSpPr/>
          <p:nvPr>
            <p:ph type="sldImg"/>
          </p:nvPr>
        </p:nvSpPr>
        <p:spPr>
          <a:prstGeom prst="rect">
            <a:avLst/>
          </a:prstGeom>
        </p:spPr>
        <p:txBody>
          <a:bodyPr/>
          <a:lstStyle/>
          <a:p>
            <a:pPr/>
          </a:p>
        </p:txBody>
      </p:sp>
      <p:sp>
        <p:nvSpPr>
          <p:cNvPr id="69" name="Shape 69"/>
          <p:cNvSpPr/>
          <p:nvPr>
            <p:ph type="body" sz="quarter" idx="1"/>
          </p:nvPr>
        </p:nvSpPr>
        <p:spPr>
          <a:prstGeom prst="rect">
            <a:avLst/>
          </a:prstGeom>
        </p:spPr>
        <p:txBody>
          <a:bodyPr/>
          <a:lstStyle/>
          <a:p>
            <a:pPr/>
            <a:r>
              <a:t>The class diagram supports the database and the long-term structure of the system. It shows the main information DriverPass must store, including customers, accounts, packages, reservations, drivers, cars, practice tests, driver notes, audit logs, and DMV updates. The multiplicity labels are important because they explain the business rules. For example, one customer can schedule many reservations, but each reservation uses one driver and one car. This supports the client requirement to track customers, drivers, cars, lesson times, and changes accurately.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 name="Shape 76"/>
          <p:cNvSpPr/>
          <p:nvPr>
            <p:ph type="sldImg"/>
          </p:nvPr>
        </p:nvSpPr>
        <p:spPr>
          <a:prstGeom prst="rect">
            <a:avLst/>
          </a:prstGeom>
        </p:spPr>
        <p:txBody>
          <a:bodyPr/>
          <a:lstStyle/>
          <a:p>
            <a:pPr/>
          </a:p>
        </p:txBody>
      </p:sp>
      <p:sp>
        <p:nvSpPr>
          <p:cNvPr id="77" name="Shape 77"/>
          <p:cNvSpPr/>
          <p:nvPr>
            <p:ph type="body" sz="quarter" idx="1"/>
          </p:nvPr>
        </p:nvSpPr>
        <p:spPr>
          <a:prstGeom prst="rect">
            <a:avLst/>
          </a:prstGeom>
        </p:spPr>
        <p:txBody>
          <a:bodyPr/>
          <a:lstStyle/>
          <a:p>
            <a:pPr/>
            <a:r>
              <a:t>Security is built into the design because DriverPass will handle customer personal information, account access, schedule details, and payment-related information. The design uses login requirements, role-based access, password reset, account blocking, encrypted communication, and audit tracking. These security choices are explained in nontechnical terms because the business need is clear: customers and employees should only access what they are supposed to access, and DriverPass should be able to trace important changes if something goes wrong.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 name="Shape 84"/>
          <p:cNvSpPr/>
          <p:nvPr>
            <p:ph type="sldImg"/>
          </p:nvPr>
        </p:nvSpPr>
        <p:spPr>
          <a:prstGeom prst="rect">
            <a:avLst/>
          </a:prstGeom>
        </p:spPr>
        <p:txBody>
          <a:bodyPr/>
          <a:lstStyle/>
          <a:p>
            <a:pPr/>
          </a:p>
        </p:txBody>
      </p:sp>
      <p:sp>
        <p:nvSpPr>
          <p:cNvPr id="85" name="Shape 85"/>
          <p:cNvSpPr/>
          <p:nvPr>
            <p:ph type="body" sz="quarter" idx="1"/>
          </p:nvPr>
        </p:nvSpPr>
        <p:spPr>
          <a:prstGeom prst="rect">
            <a:avLst/>
          </a:prstGeom>
        </p:spPr>
        <p:txBody>
          <a:bodyPr/>
          <a:lstStyle/>
          <a:p>
            <a:pPr/>
            <a:r>
              <a:t>This slide gives the client a realistic view of the system boundaries. The design supports online access from different devices, but live changes still require internet access so the system does not create duplicate or conflicting data. DMV updates depend on the external DMV source. Package customization can be expanded later, but the current system should at least allow DriverPass to disable packages. These limitations do not mean the system is weak; they explain what is included now and what should be considered for future development.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Shape 92"/>
          <p:cNvSpPr/>
          <p:nvPr>
            <p:ph type="sldImg"/>
          </p:nvPr>
        </p:nvSpPr>
        <p:spPr>
          <a:prstGeom prst="rect">
            <a:avLst/>
          </a:prstGeom>
        </p:spPr>
        <p:txBody>
          <a:bodyPr/>
          <a:lstStyle/>
          <a:p>
            <a:pPr/>
          </a:p>
        </p:txBody>
      </p:sp>
      <p:sp>
        <p:nvSpPr>
          <p:cNvPr id="93" name="Shape 93"/>
          <p:cNvSpPr/>
          <p:nvPr>
            <p:ph type="body" sz="quarter" idx="1"/>
          </p:nvPr>
        </p:nvSpPr>
        <p:spPr>
          <a:prstGeom prst="rect">
            <a:avLst/>
          </a:prstGeom>
        </p:spPr>
        <p:txBody>
          <a:bodyPr/>
          <a:lstStyle/>
          <a:p>
            <a:pPr/>
            <a:r>
              <a:t>This slide ties the system design back to DriverPass business goals. The company wants to help people pass their driving tests and provide better driver training. The design supports that by connecting online learning, practice tests, scheduling, lesson notes, and reporting. It also helps the business run more smoothly by giving employees the tools they need and by tracking changes. The result is a system that is useful to customers, manageable for employees, and scalable for the future.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Shape 100"/>
          <p:cNvSpPr/>
          <p:nvPr>
            <p:ph type="sldImg"/>
          </p:nvPr>
        </p:nvSpPr>
        <p:spPr>
          <a:prstGeom prst="rect">
            <a:avLst/>
          </a:prstGeom>
        </p:spPr>
        <p:txBody>
          <a:bodyPr/>
          <a:lstStyle/>
          <a:p>
            <a:pPr/>
          </a:p>
        </p:txBody>
      </p:sp>
      <p:sp>
        <p:nvSpPr>
          <p:cNvPr id="101" name="Shape 101"/>
          <p:cNvSpPr/>
          <p:nvPr>
            <p:ph type="body" sz="quarter" idx="1"/>
          </p:nvPr>
        </p:nvSpPr>
        <p:spPr>
          <a:prstGeom prst="rect">
            <a:avLst/>
          </a:prstGeom>
        </p:spPr>
        <p:txBody>
          <a:bodyPr/>
          <a:lstStyle/>
          <a:p>
            <a:pPr/>
            <a:r>
              <a:t>The final recommendation is to move forward with the proposed DriverPass system design. It directly supports the needs described in the interview, including online training, practice testing, lesson scheduling, driver and car assignment, reports, security, and DMV content updates. The diagrams and requirements provide a clear foundation for development. The design is also written in a way that DriverPass stakeholders can understand, which helps the client see how the system will support both customers and employees.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Text 0"/>
          <p:cNvSpPr txBox="1"/>
          <p:nvPr/>
        </p:nvSpPr>
        <p:spPr>
          <a:xfrm>
            <a:off x="685799" y="1005839"/>
            <a:ext cx="6583682" cy="12801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defRPr b="1" sz="4200">
                <a:solidFill>
                  <a:srgbClr val="1F4E79"/>
                </a:solidFill>
              </a:defRPr>
            </a:pPr>
            <a:r>
              <a:t>DriverPass</a:t>
            </a:r>
          </a:p>
          <a:p>
            <a:pPr>
              <a:defRPr b="1" sz="4200">
                <a:solidFill>
                  <a:srgbClr val="1F4E79"/>
                </a:solidFill>
              </a:defRPr>
            </a:pPr>
            <a:r>
              <a:t>System Analysis</a:t>
            </a:r>
          </a:p>
        </p:txBody>
      </p:sp>
      <p:sp>
        <p:nvSpPr>
          <p:cNvPr id="21" name="Text 1"/>
          <p:cNvSpPr txBox="1"/>
          <p:nvPr/>
        </p:nvSpPr>
        <p:spPr>
          <a:xfrm>
            <a:off x="700543" y="2305072"/>
            <a:ext cx="6400801" cy="29653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defTabSz="457200">
              <a:spcBef>
                <a:spcPts val="1200"/>
              </a:spcBef>
              <a:defRPr b="1" sz="1200">
                <a:latin typeface="Times New Roman"/>
                <a:ea typeface="Times New Roman"/>
                <a:cs typeface="Times New Roman"/>
                <a:sym typeface="Times New Roman"/>
              </a:defRPr>
            </a:pPr>
            <a:r>
              <a:t>DriverPass System Analysis</a:t>
            </a:r>
            <a:endParaRPr b="0"/>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Cloud-based driver training solution</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Online practice testing and training</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Driving lesson scheduling and management</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DMV content integration and updates</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Secure customer and employee access</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Scalable platform for future business growth</a:t>
            </a:r>
          </a:p>
          <a:p>
            <a:pPr defTabSz="457200">
              <a:spcBef>
                <a:spcPts val="1400"/>
              </a:spcBef>
              <a:defRPr b="1" sz="1400">
                <a:latin typeface="Times New Roman"/>
                <a:ea typeface="Times New Roman"/>
                <a:cs typeface="Times New Roman"/>
                <a:sym typeface="Times New Roman"/>
              </a:defRPr>
            </a:pPr>
            <a:r>
              <a:t>Speaker Notes</a:t>
            </a:r>
          </a:p>
          <a:p>
            <a:pPr defTabSz="457200">
              <a:spcBef>
                <a:spcPts val="1200"/>
              </a:spcBef>
              <a:defRPr sz="1200">
                <a:latin typeface="Times New Roman"/>
                <a:ea typeface="Times New Roman"/>
                <a:cs typeface="Times New Roman"/>
                <a:sym typeface="Times New Roman"/>
              </a:defRPr>
            </a:pPr>
            <a:r>
              <a:t>This presentation explains the proposed DriverPass system design. The goal of the system is to help customers prepare for their DMV exams through online classes, practice tests, and driving lessons. The design supports customer scheduling, driver assignment, reporting, and DMV content updates while providing a secure cloud-based environment that can grow with the business.</a:t>
            </a:r>
          </a:p>
        </p:txBody>
      </p:sp>
      <p:pic>
        <p:nvPicPr>
          <p:cNvPr id="22" name="Image 0" descr="Image 0"/>
          <p:cNvPicPr>
            <a:picLocks noChangeAspect="1"/>
          </p:cNvPicPr>
          <p:nvPr/>
        </p:nvPicPr>
        <p:blipFill>
          <a:blip r:embed="rId3">
            <a:extLst/>
          </a:blip>
          <a:stretch>
            <a:fillRect/>
          </a:stretch>
        </p:blipFill>
        <p:spPr>
          <a:xfrm>
            <a:off x="7726680" y="1492278"/>
            <a:ext cx="3840481" cy="3599122"/>
          </a:xfrm>
          <a:prstGeom prst="rect">
            <a:avLst/>
          </a:prstGeom>
          <a:ln w="12700">
            <a:miter lim="400000"/>
          </a:ln>
        </p:spPr>
      </p:pic>
      <p:sp>
        <p:nvSpPr>
          <p:cNvPr id="23" name="Text 3"/>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System Requirements</a:t>
            </a:r>
          </a:p>
        </p:txBody>
      </p:sp>
      <p:sp>
        <p:nvSpPr>
          <p:cNvPr id="28"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Functional and nonfunctional requirements selected from the DriverPass interview.</a:t>
            </a:r>
          </a:p>
        </p:txBody>
      </p:sp>
      <p:sp>
        <p:nvSpPr>
          <p:cNvPr id="29" name="Shape 2"/>
          <p:cNvSpPr/>
          <p:nvPr/>
        </p:nvSpPr>
        <p:spPr>
          <a:xfrm>
            <a:off x="411480" y="987552"/>
            <a:ext cx="11338560" cy="1"/>
          </a:xfrm>
          <a:prstGeom prst="line">
            <a:avLst/>
          </a:prstGeom>
          <a:ln w="12700">
            <a:solidFill>
              <a:srgbClr val="B7C9D8"/>
            </a:solidFill>
          </a:ln>
        </p:spPr>
        <p:txBody>
          <a:bodyPr lIns="45719" rIns="45719"/>
          <a:lstStyle/>
          <a:p>
            <a:pPr/>
          </a:p>
        </p:txBody>
      </p:sp>
      <p:sp>
        <p:nvSpPr>
          <p:cNvPr id="30" name="Text 3"/>
          <p:cNvSpPr txBox="1"/>
          <p:nvPr/>
        </p:nvSpPr>
        <p:spPr>
          <a:xfrm>
            <a:off x="685799" y="1477334"/>
            <a:ext cx="10789922" cy="4206241"/>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defTabSz="457200">
              <a:spcBef>
                <a:spcPts val="1400"/>
              </a:spcBef>
              <a:defRPr b="1" sz="1400">
                <a:latin typeface="Times New Roman"/>
                <a:ea typeface="Times New Roman"/>
                <a:cs typeface="Times New Roman"/>
                <a:sym typeface="Times New Roman"/>
              </a:defRPr>
            </a:pPr>
            <a:r>
              <a:t>Functional Requirements</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Customer registration and account creation</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Lesson scheduling, modification, and cancellation</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Online classes and practice testing</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Driver and vehicle assignment</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Progress tracking and reporting</a:t>
            </a:r>
          </a:p>
          <a:p>
            <a:pPr defTabSz="457200">
              <a:spcBef>
                <a:spcPts val="1400"/>
              </a:spcBef>
              <a:defRPr b="1" sz="1400">
                <a:latin typeface="Times New Roman"/>
                <a:ea typeface="Times New Roman"/>
                <a:cs typeface="Times New Roman"/>
                <a:sym typeface="Times New Roman"/>
              </a:defRPr>
            </a:pPr>
            <a:r>
              <a:t>Nonfunctional Requirements</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Cloud accessibility</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System security</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Reliability and availability</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Scalability</a:t>
            </a:r>
          </a:p>
          <a:p>
            <a:pPr marL="457200" indent="-317500" defTabSz="457200">
              <a:buClr>
                <a:srgbClr val="FFFFFF"/>
              </a:buClr>
              <a:buSzPct val="100000"/>
              <a:buFont typeface="Times New Roman"/>
              <a:buChar char="•"/>
              <a:defRPr sz="1200">
                <a:latin typeface="Times New Roman"/>
                <a:ea typeface="Times New Roman"/>
                <a:cs typeface="Times New Roman"/>
                <a:sym typeface="Times New Roman"/>
              </a:defRPr>
            </a:pPr>
            <a:r>
              <a:t>Backup and recovery support</a:t>
            </a:r>
          </a:p>
          <a:p>
            <a:pPr defTabSz="457200">
              <a:spcBef>
                <a:spcPts val="1400"/>
              </a:spcBef>
              <a:defRPr b="1" sz="1400">
                <a:latin typeface="Times New Roman"/>
                <a:ea typeface="Times New Roman"/>
                <a:cs typeface="Times New Roman"/>
                <a:sym typeface="Times New Roman"/>
              </a:defRPr>
            </a:pPr>
            <a:r>
              <a:t>Speaker Notes</a:t>
            </a:r>
          </a:p>
          <a:p>
            <a:pPr defTabSz="457200">
              <a:spcBef>
                <a:spcPts val="1200"/>
              </a:spcBef>
              <a:defRPr sz="1200">
                <a:latin typeface="Times New Roman"/>
                <a:ea typeface="Times New Roman"/>
                <a:cs typeface="Times New Roman"/>
                <a:sym typeface="Times New Roman"/>
              </a:defRPr>
            </a:pPr>
            <a:r>
              <a:t>DriverPass requires several key functions. Customers must be able to register, schedule driving lessons, complete online training, and take practice tests. The system must also support business operations such as assigning drivers and vehicles. In addition to these functions, the system must remain secure, available, scalable, and accessible from multiple devices.</a:t>
            </a:r>
          </a:p>
        </p:txBody>
      </p:sp>
      <p:sp>
        <p:nvSpPr>
          <p:cNvPr id="31"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2</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Use Case Diagram</a:t>
            </a:r>
          </a:p>
        </p:txBody>
      </p:sp>
      <p:sp>
        <p:nvSpPr>
          <p:cNvPr id="36"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Major people and systems involved in DriverPass, with formal UML relationship markings.</a:t>
            </a:r>
          </a:p>
        </p:txBody>
      </p:sp>
      <p:sp>
        <p:nvSpPr>
          <p:cNvPr id="37" name="Shape 2"/>
          <p:cNvSpPr/>
          <p:nvPr/>
        </p:nvSpPr>
        <p:spPr>
          <a:xfrm>
            <a:off x="411480" y="987552"/>
            <a:ext cx="11338560" cy="1"/>
          </a:xfrm>
          <a:prstGeom prst="line">
            <a:avLst/>
          </a:prstGeom>
          <a:ln w="12700">
            <a:solidFill>
              <a:srgbClr val="B7C9D8"/>
            </a:solidFill>
          </a:ln>
        </p:spPr>
        <p:txBody>
          <a:bodyPr lIns="45719" rIns="45719"/>
          <a:lstStyle/>
          <a:p>
            <a:pPr/>
          </a:p>
        </p:txBody>
      </p:sp>
      <p:pic>
        <p:nvPicPr>
          <p:cNvPr id="38" name="Image 0" descr="Image 0"/>
          <p:cNvPicPr>
            <a:picLocks noChangeAspect="1"/>
          </p:cNvPicPr>
          <p:nvPr/>
        </p:nvPicPr>
        <p:blipFill>
          <a:blip r:embed="rId3">
            <a:extLst/>
          </a:blip>
          <a:stretch>
            <a:fillRect/>
          </a:stretch>
        </p:blipFill>
        <p:spPr>
          <a:xfrm>
            <a:off x="502919" y="1252084"/>
            <a:ext cx="6949442" cy="4948193"/>
          </a:xfrm>
          <a:prstGeom prst="rect">
            <a:avLst/>
          </a:prstGeom>
          <a:ln w="12700">
            <a:miter lim="400000"/>
          </a:ln>
        </p:spPr>
      </p:pic>
      <p:sp>
        <p:nvSpPr>
          <p:cNvPr id="39" name="Text 3"/>
          <p:cNvSpPr txBox="1"/>
          <p:nvPr/>
        </p:nvSpPr>
        <p:spPr>
          <a:xfrm>
            <a:off x="7593955" y="1014335"/>
            <a:ext cx="4160521" cy="4829330"/>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defTabSz="804672">
              <a:defRPr sz="1056">
                <a:solidFill>
                  <a:srgbClr val="222222"/>
                </a:solidFill>
              </a:defRPr>
            </a:pPr>
            <a:r>
              <a:t>Customers register, log in, buy/select packages, schedule lessons, and take practice tests.</a:t>
            </a:r>
          </a:p>
          <a:p>
            <a:pPr defTabSz="804672">
              <a:defRPr sz="1056">
                <a:solidFill>
                  <a:srgbClr val="222222"/>
                </a:solidFill>
              </a:defRPr>
            </a:pPr>
            <a:r>
              <a:t>Secretaries support customers by entering information and scheduling appointments on their behalf.</a:t>
            </a:r>
          </a:p>
          <a:p>
            <a:pPr defTabSz="804672">
              <a:defRPr sz="1056">
                <a:solidFill>
                  <a:srgbClr val="222222"/>
                </a:solidFill>
              </a:defRPr>
            </a:pPr>
            <a:r>
              <a:t>Owners and IT administrators manage reports, user accounts, access rights, and package availability.</a:t>
            </a:r>
          </a:p>
          <a:p>
            <a:pPr defTabSz="804672">
              <a:defRPr sz="1056">
                <a:solidFill>
                  <a:srgbClr val="222222"/>
                </a:solidFill>
              </a:defRPr>
            </a:pPr>
            <a:r>
              <a:t>The DMV system supplies rule and question updates so practice content stays current.</a:t>
            </a:r>
          </a:p>
          <a:p>
            <a:pPr defTabSz="804672">
              <a:defRPr sz="1056">
                <a:solidFill>
                  <a:srgbClr val="222222"/>
                </a:solidFill>
              </a:defRPr>
            </a:pPr>
            <a:r>
              <a:t>Formal &lt;&lt;include&gt;&gt; relationships show required supporting actions, such as assigning a driver/car and recording audit history.</a:t>
            </a:r>
          </a:p>
          <a:p>
            <a:pPr defTabSz="804672">
              <a:defRPr sz="1056">
                <a:solidFill>
                  <a:srgbClr val="222222"/>
                </a:solidFill>
              </a:defRPr>
            </a:pPr>
            <a:r>
              <a:t>The &lt;&lt;extend&gt;&gt; relationship shows password reset as an optional path when login support is needed.</a:t>
            </a:r>
          </a:p>
          <a:p>
            <a:pPr defTabSz="402336">
              <a:spcBef>
                <a:spcPts val="1200"/>
              </a:spcBef>
              <a:defRPr b="1" sz="1232">
                <a:latin typeface="Times New Roman"/>
                <a:ea typeface="Times New Roman"/>
                <a:cs typeface="Times New Roman"/>
                <a:sym typeface="Times New Roman"/>
              </a:defRPr>
            </a:pPr>
          </a:p>
          <a:p>
            <a:pPr marL="402336" indent="-279400" defTabSz="402336">
              <a:buClr>
                <a:srgbClr val="FFFFFF"/>
              </a:buClr>
              <a:buSzPct val="100000"/>
              <a:buFont typeface="Times New Roman"/>
              <a:buChar char="•"/>
              <a:defRPr sz="1056">
                <a:latin typeface="Times New Roman"/>
                <a:ea typeface="Times New Roman"/>
                <a:cs typeface="Times New Roman"/>
                <a:sym typeface="Times New Roman"/>
              </a:defRPr>
            </a:pPr>
            <a:r>
              <a:t>Supports customer self-service scheduling</a:t>
            </a:r>
          </a:p>
          <a:p>
            <a:pPr marL="402336" indent="-279400" defTabSz="402336">
              <a:buClr>
                <a:srgbClr val="FFFFFF"/>
              </a:buClr>
              <a:buSzPct val="100000"/>
              <a:buFont typeface="Times New Roman"/>
              <a:buChar char="•"/>
              <a:defRPr sz="1056">
                <a:latin typeface="Times New Roman"/>
                <a:ea typeface="Times New Roman"/>
                <a:cs typeface="Times New Roman"/>
                <a:sym typeface="Times New Roman"/>
              </a:defRPr>
            </a:pPr>
            <a:r>
              <a:t>Allows secretary-assisted scheduling</a:t>
            </a:r>
          </a:p>
          <a:p>
            <a:pPr marL="402336" indent="-279400" defTabSz="402336">
              <a:buClr>
                <a:srgbClr val="FFFFFF"/>
              </a:buClr>
              <a:buSzPct val="100000"/>
              <a:buFont typeface="Times New Roman"/>
              <a:buChar char="•"/>
              <a:defRPr sz="1056">
                <a:latin typeface="Times New Roman"/>
                <a:ea typeface="Times New Roman"/>
                <a:cs typeface="Times New Roman"/>
                <a:sym typeface="Times New Roman"/>
              </a:defRPr>
            </a:pPr>
            <a:r>
              <a:t>Provides password reset functionality</a:t>
            </a:r>
          </a:p>
          <a:p>
            <a:pPr marL="402336" indent="-279400" defTabSz="402336">
              <a:buClr>
                <a:srgbClr val="FFFFFF"/>
              </a:buClr>
              <a:buSzPct val="100000"/>
              <a:buFont typeface="Times New Roman"/>
              <a:buChar char="•"/>
              <a:defRPr sz="1056">
                <a:latin typeface="Times New Roman"/>
                <a:ea typeface="Times New Roman"/>
                <a:cs typeface="Times New Roman"/>
                <a:sym typeface="Times New Roman"/>
              </a:defRPr>
            </a:pPr>
            <a:r>
              <a:t>Supports DMV content updates</a:t>
            </a:r>
          </a:p>
          <a:p>
            <a:pPr marL="402336" indent="-279400" defTabSz="402336">
              <a:buClr>
                <a:srgbClr val="FFFFFF"/>
              </a:buClr>
              <a:buSzPct val="100000"/>
              <a:buFont typeface="Times New Roman"/>
              <a:buChar char="•"/>
              <a:defRPr sz="1056">
                <a:latin typeface="Times New Roman"/>
                <a:ea typeface="Times New Roman"/>
                <a:cs typeface="Times New Roman"/>
                <a:sym typeface="Times New Roman"/>
              </a:defRPr>
            </a:pPr>
            <a:r>
              <a:t>Enables reporting and account management</a:t>
            </a:r>
          </a:p>
          <a:p>
            <a:pPr marL="402336" indent="-279400" defTabSz="402336">
              <a:buClr>
                <a:srgbClr val="FFFFFF"/>
              </a:buClr>
              <a:buSzPct val="100000"/>
              <a:buFont typeface="Times New Roman"/>
              <a:buChar char="•"/>
              <a:defRPr sz="1056">
                <a:latin typeface="Times New Roman"/>
                <a:ea typeface="Times New Roman"/>
                <a:cs typeface="Times New Roman"/>
                <a:sym typeface="Times New Roman"/>
              </a:defRPr>
            </a:pPr>
            <a:r>
              <a:t>Tracks important business activities</a:t>
            </a:r>
          </a:p>
          <a:p>
            <a:pPr defTabSz="402336">
              <a:spcBef>
                <a:spcPts val="1200"/>
              </a:spcBef>
              <a:defRPr b="1" sz="1232">
                <a:latin typeface="Times New Roman"/>
                <a:ea typeface="Times New Roman"/>
                <a:cs typeface="Times New Roman"/>
                <a:sym typeface="Times New Roman"/>
              </a:defRPr>
            </a:pPr>
            <a:r>
              <a:t>Speaker Notes</a:t>
            </a:r>
          </a:p>
          <a:p>
            <a:pPr defTabSz="402336">
              <a:spcBef>
                <a:spcPts val="1000"/>
              </a:spcBef>
              <a:defRPr sz="1056">
                <a:latin typeface="Times New Roman"/>
                <a:ea typeface="Times New Roman"/>
                <a:cs typeface="Times New Roman"/>
                <a:sym typeface="Times New Roman"/>
              </a:defRPr>
            </a:pPr>
            <a:r>
              <a:t>This diagram illustrates how different users interact with DriverPass. Customers can register, schedule lessons, and complete training activities. The secretary can assist customers with scheduling. The owner and IT administrator manage reports, packages, and user accounts. DMV updates help keep the training content current. The design ensures that each user only accesses the functions appropriate for their role.</a:t>
            </a:r>
          </a:p>
          <a:p>
            <a:pPr defTabSz="402336">
              <a:spcBef>
                <a:spcPts val="1000"/>
              </a:spcBef>
              <a:defRPr sz="1056">
                <a:solidFill>
                  <a:srgbClr val="FFFFFF"/>
                </a:solidFill>
                <a:latin typeface="Times New Roman"/>
                <a:ea typeface="Times New Roman"/>
                <a:cs typeface="Times New Roman"/>
                <a:sym typeface="Times New Roman"/>
              </a:defRPr>
            </a:pPr>
          </a:p>
        </p:txBody>
      </p:sp>
      <p:sp>
        <p:nvSpPr>
          <p:cNvPr id="40"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Activity Diagram: Schedule Driving Lesson</a:t>
            </a:r>
          </a:p>
        </p:txBody>
      </p:sp>
      <p:sp>
        <p:nvSpPr>
          <p:cNvPr id="45"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Step-by-step workflow for scheduling a two-hour DriverPass lesson.</a:t>
            </a:r>
          </a:p>
        </p:txBody>
      </p:sp>
      <p:sp>
        <p:nvSpPr>
          <p:cNvPr id="46" name="Shape 2"/>
          <p:cNvSpPr/>
          <p:nvPr/>
        </p:nvSpPr>
        <p:spPr>
          <a:xfrm>
            <a:off x="411480" y="987552"/>
            <a:ext cx="11338560" cy="1"/>
          </a:xfrm>
          <a:prstGeom prst="line">
            <a:avLst/>
          </a:prstGeom>
          <a:ln w="12700">
            <a:solidFill>
              <a:srgbClr val="B7C9D8"/>
            </a:solidFill>
          </a:ln>
        </p:spPr>
        <p:txBody>
          <a:bodyPr lIns="45719" rIns="45719"/>
          <a:lstStyle/>
          <a:p>
            <a:pPr/>
          </a:p>
        </p:txBody>
      </p:sp>
      <p:pic>
        <p:nvPicPr>
          <p:cNvPr id="47" name="Image 0" descr="Image 0"/>
          <p:cNvPicPr>
            <a:picLocks noChangeAspect="1"/>
          </p:cNvPicPr>
          <p:nvPr/>
        </p:nvPicPr>
        <p:blipFill>
          <a:blip r:embed="rId3">
            <a:extLst/>
          </a:blip>
          <a:stretch>
            <a:fillRect/>
          </a:stretch>
        </p:blipFill>
        <p:spPr>
          <a:xfrm>
            <a:off x="812816" y="1115567"/>
            <a:ext cx="5415247" cy="5074922"/>
          </a:xfrm>
          <a:prstGeom prst="rect">
            <a:avLst/>
          </a:prstGeom>
          <a:ln w="12700">
            <a:miter lim="400000"/>
          </a:ln>
        </p:spPr>
      </p:pic>
      <p:sp>
        <p:nvSpPr>
          <p:cNvPr id="48" name="Text 3"/>
          <p:cNvSpPr txBox="1"/>
          <p:nvPr/>
        </p:nvSpPr>
        <p:spPr>
          <a:xfrm>
            <a:off x="6619326" y="1234439"/>
            <a:ext cx="4993555" cy="4946607"/>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defTabSz="896111">
              <a:defRPr sz="1274">
                <a:solidFill>
                  <a:srgbClr val="222222"/>
                </a:solidFill>
              </a:defRPr>
            </a:pPr>
            <a:r>
              <a:t>The workflow starts after a customer or secretary logs in.</a:t>
            </a:r>
          </a:p>
          <a:p>
            <a:pPr defTabSz="896111">
              <a:defRPr sz="1274">
                <a:solidFill>
                  <a:srgbClr val="222222"/>
                </a:solidFill>
              </a:defRPr>
            </a:pPr>
            <a:r>
              <a:t>The system collects the selected package, requested time, and pickup/drop-off location.</a:t>
            </a:r>
          </a:p>
          <a:p>
            <a:pPr defTabSz="896111">
              <a:defRPr sz="1274">
                <a:solidFill>
                  <a:srgbClr val="222222"/>
                </a:solidFill>
              </a:defRPr>
            </a:pPr>
            <a:r>
              <a:t>Before confirming, the system checks package hours, driver availability, car availability, and schedule conflicts.</a:t>
            </a:r>
          </a:p>
          <a:p>
            <a:pPr defTabSz="896111">
              <a:defRPr sz="1274">
                <a:solidFill>
                  <a:srgbClr val="222222"/>
                </a:solidFill>
              </a:defRPr>
            </a:pPr>
            <a:r>
              <a:t>If the requested time is unavailable, the user is prompted to choose another time instead of creating a bad reservation.</a:t>
            </a:r>
          </a:p>
          <a:p>
            <a:pPr defTabSz="896111">
              <a:defRPr sz="1274">
                <a:solidFill>
                  <a:srgbClr val="222222"/>
                </a:solidFill>
              </a:defRPr>
            </a:pPr>
            <a:r>
              <a:t>If the slot is available, the system reserves the driver and car, records the audit history, and sends confirmation.</a:t>
            </a:r>
          </a:p>
          <a:p>
            <a:pPr defTabSz="896111">
              <a:defRPr sz="1274">
                <a:solidFill>
                  <a:srgbClr val="222222"/>
                </a:solidFill>
              </a:defRPr>
            </a:pPr>
            <a:r>
              <a:t>This directly supports DriverPass scheduling, accountability, and customer communication needs.</a:t>
            </a:r>
          </a:p>
          <a:p>
            <a:pPr marL="448055" indent="-311150" defTabSz="448055">
              <a:buClr>
                <a:srgbClr val="FFFFFF"/>
              </a:buClr>
              <a:buSzPct val="100000"/>
              <a:buFont typeface="Times New Roman"/>
              <a:buChar char="•"/>
              <a:defRPr sz="1176">
                <a:latin typeface="Times New Roman"/>
                <a:ea typeface="Times New Roman"/>
                <a:cs typeface="Times New Roman"/>
                <a:sym typeface="Times New Roman"/>
              </a:defRPr>
            </a:pPr>
          </a:p>
          <a:p>
            <a:pPr marL="448055" indent="-311150" defTabSz="448055">
              <a:buClr>
                <a:srgbClr val="FFFFFF"/>
              </a:buClr>
              <a:buSzPct val="100000"/>
              <a:buFont typeface="Times New Roman"/>
              <a:buChar char="•"/>
              <a:defRPr sz="1176">
                <a:latin typeface="Times New Roman"/>
                <a:ea typeface="Times New Roman"/>
                <a:cs typeface="Times New Roman"/>
                <a:sym typeface="Times New Roman"/>
              </a:defRPr>
            </a:pPr>
            <a:r>
              <a:t>Validates customer eligibility</a:t>
            </a:r>
          </a:p>
          <a:p>
            <a:pPr marL="448055" indent="-311150" defTabSz="448055">
              <a:buClr>
                <a:srgbClr val="FFFFFF"/>
              </a:buClr>
              <a:buSzPct val="100000"/>
              <a:buFont typeface="Times New Roman"/>
              <a:buChar char="•"/>
              <a:defRPr sz="1176">
                <a:latin typeface="Times New Roman"/>
                <a:ea typeface="Times New Roman"/>
                <a:cs typeface="Times New Roman"/>
                <a:sym typeface="Times New Roman"/>
              </a:defRPr>
            </a:pPr>
            <a:r>
              <a:t>Checks driver availability</a:t>
            </a:r>
          </a:p>
          <a:p>
            <a:pPr marL="448055" indent="-311150" defTabSz="448055">
              <a:buClr>
                <a:srgbClr val="FFFFFF"/>
              </a:buClr>
              <a:buSzPct val="100000"/>
              <a:buFont typeface="Times New Roman"/>
              <a:buChar char="•"/>
              <a:defRPr sz="1176">
                <a:latin typeface="Times New Roman"/>
                <a:ea typeface="Times New Roman"/>
                <a:cs typeface="Times New Roman"/>
                <a:sym typeface="Times New Roman"/>
              </a:defRPr>
            </a:pPr>
            <a:r>
              <a:t>Checks vehicle availability</a:t>
            </a:r>
          </a:p>
          <a:p>
            <a:pPr marL="448055" indent="-311150" defTabSz="448055">
              <a:buClr>
                <a:srgbClr val="FFFFFF"/>
              </a:buClr>
              <a:buSzPct val="100000"/>
              <a:buFont typeface="Times New Roman"/>
              <a:buChar char="•"/>
              <a:defRPr sz="1176">
                <a:latin typeface="Times New Roman"/>
                <a:ea typeface="Times New Roman"/>
                <a:cs typeface="Times New Roman"/>
                <a:sym typeface="Times New Roman"/>
              </a:defRPr>
            </a:pPr>
            <a:r>
              <a:t>Prevents scheduling conflicts</a:t>
            </a:r>
          </a:p>
          <a:p>
            <a:pPr marL="448055" indent="-311150" defTabSz="448055">
              <a:buClr>
                <a:srgbClr val="FFFFFF"/>
              </a:buClr>
              <a:buSzPct val="100000"/>
              <a:buFont typeface="Times New Roman"/>
              <a:buChar char="•"/>
              <a:defRPr sz="1176">
                <a:latin typeface="Times New Roman"/>
                <a:ea typeface="Times New Roman"/>
                <a:cs typeface="Times New Roman"/>
                <a:sym typeface="Times New Roman"/>
              </a:defRPr>
            </a:pPr>
            <a:r>
              <a:t>Creates audit records</a:t>
            </a:r>
          </a:p>
          <a:p>
            <a:pPr marL="448055" indent="-311150" defTabSz="448055">
              <a:buClr>
                <a:srgbClr val="FFFFFF"/>
              </a:buClr>
              <a:buSzPct val="100000"/>
              <a:buFont typeface="Times New Roman"/>
              <a:buChar char="•"/>
              <a:defRPr sz="1176">
                <a:latin typeface="Times New Roman"/>
                <a:ea typeface="Times New Roman"/>
                <a:cs typeface="Times New Roman"/>
                <a:sym typeface="Times New Roman"/>
              </a:defRPr>
            </a:pPr>
            <a:r>
              <a:t>Sends confirmation notifications</a:t>
            </a:r>
          </a:p>
          <a:p>
            <a:pPr defTabSz="448055">
              <a:spcBef>
                <a:spcPts val="1300"/>
              </a:spcBef>
              <a:defRPr b="1" sz="1372">
                <a:latin typeface="Times New Roman"/>
                <a:ea typeface="Times New Roman"/>
                <a:cs typeface="Times New Roman"/>
                <a:sym typeface="Times New Roman"/>
              </a:defRPr>
            </a:pPr>
            <a:r>
              <a:t>Speaker Notes</a:t>
            </a:r>
          </a:p>
          <a:p>
            <a:pPr defTabSz="448055">
              <a:spcBef>
                <a:spcPts val="1100"/>
              </a:spcBef>
              <a:defRPr sz="1176">
                <a:latin typeface="Times New Roman"/>
                <a:ea typeface="Times New Roman"/>
                <a:cs typeface="Times New Roman"/>
                <a:sym typeface="Times New Roman"/>
              </a:defRPr>
            </a:pPr>
            <a:r>
              <a:t>This workflow demonstrates how driving lessons are scheduled. Before confirming an appointment, the system verifies package eligibility, driver availability, vehicle availability, and scheduling conflicts. Once the lesson is confirmed, the system records the activity and sends confirmation to the customer. This process improves efficiency while reducing scheduling errors.</a:t>
            </a:r>
          </a:p>
        </p:txBody>
      </p:sp>
      <p:sp>
        <p:nvSpPr>
          <p:cNvPr id="49"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Sequence Diagram: Scheduling Interaction</a:t>
            </a:r>
          </a:p>
        </p:txBody>
      </p:sp>
      <p:sp>
        <p:nvSpPr>
          <p:cNvPr id="54"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Readable communication flow among the customer, portal, services, database, and notification process.</a:t>
            </a:r>
          </a:p>
        </p:txBody>
      </p:sp>
      <p:sp>
        <p:nvSpPr>
          <p:cNvPr id="55" name="Shape 2"/>
          <p:cNvSpPr/>
          <p:nvPr/>
        </p:nvSpPr>
        <p:spPr>
          <a:xfrm>
            <a:off x="411480" y="987552"/>
            <a:ext cx="11338560" cy="1"/>
          </a:xfrm>
          <a:prstGeom prst="line">
            <a:avLst/>
          </a:prstGeom>
          <a:ln w="12700">
            <a:solidFill>
              <a:srgbClr val="B7C9D8"/>
            </a:solidFill>
          </a:ln>
        </p:spPr>
        <p:txBody>
          <a:bodyPr lIns="45719" rIns="45719"/>
          <a:lstStyle/>
          <a:p>
            <a:pPr/>
          </a:p>
        </p:txBody>
      </p:sp>
      <p:pic>
        <p:nvPicPr>
          <p:cNvPr id="56" name="Image 0" descr="Image 0"/>
          <p:cNvPicPr>
            <a:picLocks noChangeAspect="1"/>
          </p:cNvPicPr>
          <p:nvPr/>
        </p:nvPicPr>
        <p:blipFill>
          <a:blip r:embed="rId3">
            <a:extLst/>
          </a:blip>
          <a:stretch>
            <a:fillRect/>
          </a:stretch>
        </p:blipFill>
        <p:spPr>
          <a:xfrm>
            <a:off x="928010" y="1143000"/>
            <a:ext cx="5642059" cy="5120641"/>
          </a:xfrm>
          <a:prstGeom prst="rect">
            <a:avLst/>
          </a:prstGeom>
          <a:ln w="12700">
            <a:miter lim="400000"/>
          </a:ln>
        </p:spPr>
      </p:pic>
      <p:sp>
        <p:nvSpPr>
          <p:cNvPr id="57" name="Text 3"/>
          <p:cNvSpPr txBox="1"/>
          <p:nvPr/>
        </p:nvSpPr>
        <p:spPr>
          <a:xfrm>
            <a:off x="7269480" y="1234439"/>
            <a:ext cx="4343401" cy="493776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a:defRPr sz="1300">
                <a:solidFill>
                  <a:srgbClr val="222222"/>
                </a:solidFill>
              </a:defRPr>
            </a:pPr>
            <a:r>
              <a:t>The customer requests a driving lesson through the web portal.</a:t>
            </a:r>
          </a:p>
          <a:p>
            <a:pPr>
              <a:defRPr sz="1300">
                <a:solidFill>
                  <a:srgbClr val="222222"/>
                </a:solidFill>
              </a:defRPr>
            </a:pPr>
            <a:r>
              <a:t>The scheduling service checks package hours, driver availability, vehicle availability, and conflicts.</a:t>
            </a:r>
          </a:p>
          <a:p>
            <a:pPr>
              <a:defRPr sz="1300">
                <a:solidFill>
                  <a:srgbClr val="222222"/>
                </a:solidFill>
              </a:defRPr>
            </a:pPr>
            <a:r>
              <a:t>The database returns available slots or conflict results.</a:t>
            </a:r>
          </a:p>
          <a:p>
            <a:pPr>
              <a:defRPr sz="1300">
                <a:solidFill>
                  <a:srgbClr val="222222"/>
                </a:solidFill>
              </a:defRPr>
            </a:pPr>
            <a:r>
              <a:t>After confirmation, the reservation and audit record are stored.</a:t>
            </a:r>
          </a:p>
          <a:p>
            <a:pPr>
              <a:defRPr sz="1300">
                <a:solidFill>
                  <a:srgbClr val="222222"/>
                </a:solidFill>
              </a:defRPr>
            </a:pPr>
            <a:r>
              <a:t>The notification service sends the customer an appointment confirmation.</a:t>
            </a:r>
          </a:p>
          <a:p>
            <a:pPr>
              <a:defRPr sz="1300">
                <a:solidFill>
                  <a:srgbClr val="222222"/>
                </a:solidFill>
              </a:defRPr>
            </a:pPr>
            <a:r>
              <a:t>Large labels make the sequence readable without zooming.</a:t>
            </a:r>
          </a:p>
        </p:txBody>
      </p:sp>
      <p:sp>
        <p:nvSpPr>
          <p:cNvPr id="58"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Class Diagram and Data Design</a:t>
            </a:r>
          </a:p>
        </p:txBody>
      </p:sp>
      <p:sp>
        <p:nvSpPr>
          <p:cNvPr id="63"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Main information the system must store to support DriverPass operations.</a:t>
            </a:r>
          </a:p>
        </p:txBody>
      </p:sp>
      <p:sp>
        <p:nvSpPr>
          <p:cNvPr id="64" name="Shape 2"/>
          <p:cNvSpPr/>
          <p:nvPr/>
        </p:nvSpPr>
        <p:spPr>
          <a:xfrm>
            <a:off x="411480" y="987552"/>
            <a:ext cx="11338560" cy="1"/>
          </a:xfrm>
          <a:prstGeom prst="line">
            <a:avLst/>
          </a:prstGeom>
          <a:ln w="12700">
            <a:solidFill>
              <a:srgbClr val="B7C9D8"/>
            </a:solidFill>
          </a:ln>
        </p:spPr>
        <p:txBody>
          <a:bodyPr lIns="45719" rIns="45719"/>
          <a:lstStyle/>
          <a:p>
            <a:pPr/>
          </a:p>
        </p:txBody>
      </p:sp>
      <p:pic>
        <p:nvPicPr>
          <p:cNvPr id="65" name="Image 0" descr="Image 0"/>
          <p:cNvPicPr>
            <a:picLocks noChangeAspect="1"/>
          </p:cNvPicPr>
          <p:nvPr/>
        </p:nvPicPr>
        <p:blipFill>
          <a:blip r:embed="rId3">
            <a:extLst/>
          </a:blip>
          <a:stretch>
            <a:fillRect/>
          </a:stretch>
        </p:blipFill>
        <p:spPr>
          <a:xfrm>
            <a:off x="1843402" y="1097280"/>
            <a:ext cx="4177037" cy="5212080"/>
          </a:xfrm>
          <a:prstGeom prst="rect">
            <a:avLst/>
          </a:prstGeom>
          <a:ln w="12700">
            <a:miter lim="400000"/>
          </a:ln>
        </p:spPr>
      </p:pic>
      <p:sp>
        <p:nvSpPr>
          <p:cNvPr id="66" name="Text 3"/>
          <p:cNvSpPr txBox="1"/>
          <p:nvPr/>
        </p:nvSpPr>
        <p:spPr>
          <a:xfrm>
            <a:off x="7589519" y="1234439"/>
            <a:ext cx="4069081" cy="4846322"/>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a:defRPr sz="1200">
                <a:solidFill>
                  <a:srgbClr val="222222"/>
                </a:solidFill>
              </a:defRPr>
            </a:pPr>
            <a:r>
              <a:t>Customer and UserAccount store personal information, login access, roles, and account status.</a:t>
            </a:r>
          </a:p>
          <a:p>
            <a:pPr>
              <a:defRPr sz="1200">
                <a:solidFill>
                  <a:srgbClr val="222222"/>
                </a:solidFill>
              </a:defRPr>
            </a:pPr>
            <a:r>
              <a:t>TrainingPackage stores package hours, online class access, price, and active/inactive status.</a:t>
            </a:r>
          </a:p>
          <a:p>
            <a:pPr>
              <a:defRPr sz="1200">
                <a:solidFill>
                  <a:srgbClr val="222222"/>
                </a:solidFill>
              </a:defRPr>
            </a:pPr>
            <a:r>
              <a:t>Reservation connects each lesson to one customer, one driver, and one car.</a:t>
            </a:r>
          </a:p>
          <a:p>
            <a:pPr>
              <a:defRPr sz="1200">
                <a:solidFill>
                  <a:srgbClr val="222222"/>
                </a:solidFill>
              </a:defRPr>
            </a:pPr>
            <a:r>
              <a:t>PracticeTest and DMVUpdate support current testing content and customer progress tracking.</a:t>
            </a:r>
          </a:p>
          <a:p>
            <a:pPr>
              <a:defRPr sz="1200">
                <a:solidFill>
                  <a:srgbClr val="222222"/>
                </a:solidFill>
              </a:defRPr>
            </a:pPr>
            <a:r>
              <a:t>AuditLog records important changes so DriverPass can identify who created, modified, or canceled records.</a:t>
            </a:r>
          </a:p>
          <a:p>
            <a:pPr>
              <a:defRPr sz="1200">
                <a:solidFill>
                  <a:srgbClr val="222222"/>
                </a:solidFill>
              </a:defRPr>
            </a:pPr>
            <a:r>
              <a:t>Multiplicity labels clarify how many records can be connected, strengthening database planning.</a:t>
            </a:r>
          </a:p>
        </p:txBody>
      </p:sp>
      <p:sp>
        <p:nvSpPr>
          <p:cNvPr id="67"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Security</a:t>
            </a:r>
          </a:p>
        </p:txBody>
      </p:sp>
      <p:sp>
        <p:nvSpPr>
          <p:cNvPr id="72"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How the design protects DriverPass users, records, and business operations.</a:t>
            </a:r>
          </a:p>
        </p:txBody>
      </p:sp>
      <p:sp>
        <p:nvSpPr>
          <p:cNvPr id="73" name="Shape 2"/>
          <p:cNvSpPr/>
          <p:nvPr/>
        </p:nvSpPr>
        <p:spPr>
          <a:xfrm>
            <a:off x="411480" y="987552"/>
            <a:ext cx="11338560" cy="1"/>
          </a:xfrm>
          <a:prstGeom prst="line">
            <a:avLst/>
          </a:prstGeom>
          <a:ln w="12700">
            <a:solidFill>
              <a:srgbClr val="B7C9D8"/>
            </a:solidFill>
          </a:ln>
        </p:spPr>
        <p:txBody>
          <a:bodyPr lIns="45719" rIns="45719"/>
          <a:lstStyle/>
          <a:p>
            <a:pPr/>
          </a:p>
        </p:txBody>
      </p:sp>
      <p:sp>
        <p:nvSpPr>
          <p:cNvPr id="74" name="Text 3"/>
          <p:cNvSpPr txBox="1"/>
          <p:nvPr/>
        </p:nvSpPr>
        <p:spPr>
          <a:xfrm>
            <a:off x="731519" y="1234440"/>
            <a:ext cx="10698482" cy="4480560"/>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a:defRPr>
                <a:solidFill>
                  <a:srgbClr val="222222"/>
                </a:solidFill>
              </a:defRPr>
            </a:pPr>
            <a:r>
              <a:t>Customers and employees must log in before accessing personal information, reservations, tests, or reports.</a:t>
            </a:r>
          </a:p>
          <a:p>
            <a:pPr>
              <a:defRPr>
                <a:solidFill>
                  <a:srgbClr val="222222"/>
                </a:solidFill>
              </a:defRPr>
            </a:pPr>
            <a:r>
              <a:t>Role-based access limits each user to the functions they are allowed to perform.</a:t>
            </a:r>
          </a:p>
          <a:p>
            <a:pPr>
              <a:defRPr>
                <a:solidFill>
                  <a:srgbClr val="222222"/>
                </a:solidFill>
              </a:defRPr>
            </a:pPr>
            <a:r>
              <a:t>Password reset and account blocking support both customer access and administrator control.</a:t>
            </a:r>
          </a:p>
          <a:p>
            <a:pPr>
              <a:defRPr>
                <a:solidFill>
                  <a:srgbClr val="222222"/>
                </a:solidFill>
              </a:defRPr>
            </a:pPr>
            <a:r>
              <a:t>HTTPS/TLS encryption protects information sent between users and the web application.</a:t>
            </a:r>
          </a:p>
          <a:p>
            <a:pPr>
              <a:defRPr>
                <a:solidFill>
                  <a:srgbClr val="222222"/>
                </a:solidFill>
              </a:defRPr>
            </a:pPr>
            <a:r>
              <a:t>Audit logs record who creates, changes, cancels, or reports on important records.</a:t>
            </a:r>
          </a:p>
          <a:p>
            <a:pPr>
              <a:defRPr>
                <a:solidFill>
                  <a:srgbClr val="222222"/>
                </a:solidFill>
              </a:defRPr>
            </a:pPr>
            <a:r>
              <a:t>Payment information should be handled through a secure payment processor instead of being stored directly by DriverPass.</a:t>
            </a:r>
          </a:p>
        </p:txBody>
      </p:sp>
      <p:sp>
        <p:nvSpPr>
          <p:cNvPr id="75"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System Limitations</a:t>
            </a:r>
          </a:p>
        </p:txBody>
      </p:sp>
      <p:sp>
        <p:nvSpPr>
          <p:cNvPr id="80"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Known boundaries of the proposed design and future considerations.</a:t>
            </a:r>
          </a:p>
        </p:txBody>
      </p:sp>
      <p:sp>
        <p:nvSpPr>
          <p:cNvPr id="81" name="Shape 2"/>
          <p:cNvSpPr/>
          <p:nvPr/>
        </p:nvSpPr>
        <p:spPr>
          <a:xfrm>
            <a:off x="411480" y="987552"/>
            <a:ext cx="11338560" cy="1"/>
          </a:xfrm>
          <a:prstGeom prst="line">
            <a:avLst/>
          </a:prstGeom>
          <a:ln w="12700">
            <a:solidFill>
              <a:srgbClr val="B7C9D8"/>
            </a:solidFill>
          </a:ln>
        </p:spPr>
        <p:txBody>
          <a:bodyPr lIns="45719" rIns="45719"/>
          <a:lstStyle/>
          <a:p>
            <a:pPr/>
          </a:p>
        </p:txBody>
      </p:sp>
      <p:sp>
        <p:nvSpPr>
          <p:cNvPr id="82" name="Text 3"/>
          <p:cNvSpPr txBox="1"/>
          <p:nvPr/>
        </p:nvSpPr>
        <p:spPr>
          <a:xfrm>
            <a:off x="731519" y="1234440"/>
            <a:ext cx="10698482" cy="4480560"/>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a:defRPr>
                <a:solidFill>
                  <a:srgbClr val="222222"/>
                </a:solidFill>
              </a:defRPr>
            </a:pPr>
            <a:r>
              <a:t>Users need internet access to create, change, or cancel records because updates must stay consistent.</a:t>
            </a:r>
          </a:p>
          <a:p>
            <a:pPr>
              <a:defRPr>
                <a:solidFill>
                  <a:srgbClr val="222222"/>
                </a:solidFill>
              </a:defRPr>
            </a:pPr>
            <a:r>
              <a:t>Offline work is limited to downloaded reports or exported information, not live database changes.</a:t>
            </a:r>
          </a:p>
          <a:p>
            <a:pPr>
              <a:defRPr>
                <a:solidFill>
                  <a:srgbClr val="222222"/>
                </a:solidFill>
              </a:defRPr>
            </a:pPr>
            <a:r>
              <a:t>DMV content depends on the timing and quality of updates provided by the DMV source.</a:t>
            </a:r>
          </a:p>
          <a:p>
            <a:pPr>
              <a:defRPr>
                <a:solidFill>
                  <a:srgbClr val="222222"/>
                </a:solidFill>
              </a:defRPr>
            </a:pPr>
            <a:r>
              <a:t>Major package customization beyond disabling a package should be planned as a future release.</a:t>
            </a:r>
          </a:p>
          <a:p>
            <a:pPr>
              <a:defRPr>
                <a:solidFill>
                  <a:srgbClr val="222222"/>
                </a:solidFill>
              </a:defRPr>
            </a:pPr>
            <a:r>
              <a:t>Secure payment processing may require a third-party payment provider and related compliance controls.</a:t>
            </a:r>
          </a:p>
          <a:p>
            <a:pPr>
              <a:defRPr>
                <a:solidFill>
                  <a:srgbClr val="222222"/>
                </a:solidFill>
              </a:defRPr>
            </a:pPr>
            <a:r>
              <a:t>Future growth may require additional drivers, cars, storage, reporting features, and monitoring.</a:t>
            </a:r>
          </a:p>
        </p:txBody>
      </p:sp>
      <p:sp>
        <p:nvSpPr>
          <p:cNvPr id="83"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8</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How the Design Meets DriverPass Needs</a:t>
            </a:r>
          </a:p>
        </p:txBody>
      </p:sp>
      <p:sp>
        <p:nvSpPr>
          <p:cNvPr id="88"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Business benefits of the proposed system.</a:t>
            </a:r>
          </a:p>
        </p:txBody>
      </p:sp>
      <p:sp>
        <p:nvSpPr>
          <p:cNvPr id="89" name="Shape 2"/>
          <p:cNvSpPr/>
          <p:nvPr/>
        </p:nvSpPr>
        <p:spPr>
          <a:xfrm>
            <a:off x="411480" y="987552"/>
            <a:ext cx="11338560" cy="1"/>
          </a:xfrm>
          <a:prstGeom prst="line">
            <a:avLst/>
          </a:prstGeom>
          <a:ln w="12700">
            <a:solidFill>
              <a:srgbClr val="B7C9D8"/>
            </a:solidFill>
          </a:ln>
        </p:spPr>
        <p:txBody>
          <a:bodyPr lIns="45719" rIns="45719"/>
          <a:lstStyle/>
          <a:p>
            <a:pPr/>
          </a:p>
        </p:txBody>
      </p:sp>
      <p:sp>
        <p:nvSpPr>
          <p:cNvPr id="90" name="Text 3"/>
          <p:cNvSpPr txBox="1"/>
          <p:nvPr/>
        </p:nvSpPr>
        <p:spPr>
          <a:xfrm>
            <a:off x="731519" y="1234440"/>
            <a:ext cx="10698482" cy="4480560"/>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a:defRPr>
                <a:solidFill>
                  <a:srgbClr val="222222"/>
                </a:solidFill>
              </a:defRPr>
            </a:pPr>
            <a:r>
              <a:t>Improves customer success by combining online classes, DMV-based practice tests, and lesson progress tracking.</a:t>
            </a:r>
          </a:p>
          <a:p>
            <a:pPr>
              <a:defRPr>
                <a:solidFill>
                  <a:srgbClr val="222222"/>
                </a:solidFill>
              </a:defRPr>
            </a:pPr>
            <a:r>
              <a:t>Improves scheduling accuracy by checking packages, drivers, cars, and time conflicts before confirmation.</a:t>
            </a:r>
          </a:p>
          <a:p>
            <a:pPr>
              <a:defRPr>
                <a:solidFill>
                  <a:srgbClr val="222222"/>
                </a:solidFill>
              </a:defRPr>
            </a:pPr>
            <a:r>
              <a:t>Improves accountability by tracking who creates, modifies, or cancels reservations and records.</a:t>
            </a:r>
          </a:p>
          <a:p>
            <a:pPr>
              <a:defRPr>
                <a:solidFill>
                  <a:srgbClr val="222222"/>
                </a:solidFill>
              </a:defRPr>
            </a:pPr>
            <a:r>
              <a:t>Improves administration by giving the owner and IT administrator reporting and account-control functions.</a:t>
            </a:r>
          </a:p>
          <a:p>
            <a:pPr>
              <a:defRPr>
                <a:solidFill>
                  <a:srgbClr val="222222"/>
                </a:solidFill>
              </a:defRPr>
            </a:pPr>
            <a:r>
              <a:t>Improves flexibility by allowing package management and supporting future system expansion.</a:t>
            </a:r>
          </a:p>
          <a:p>
            <a:pPr>
              <a:defRPr>
                <a:solidFill>
                  <a:srgbClr val="222222"/>
                </a:solidFill>
              </a:defRPr>
            </a:pPr>
            <a:r>
              <a:t>Improves accessibility by using a secure cloud-based web system available from modern devices.</a:t>
            </a:r>
          </a:p>
        </p:txBody>
      </p:sp>
      <p:sp>
        <p:nvSpPr>
          <p:cNvPr id="91"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9</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Text 0"/>
          <p:cNvSpPr txBox="1"/>
          <p:nvPr/>
        </p:nvSpPr>
        <p:spPr>
          <a:xfrm>
            <a:off x="411480" y="282815"/>
            <a:ext cx="1133856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1F4E79"/>
                </a:solidFill>
              </a:defRPr>
            </a:lvl1pPr>
          </a:lstStyle>
          <a:p>
            <a:pPr/>
            <a:r>
              <a:t>Conclusion</a:t>
            </a:r>
          </a:p>
        </p:txBody>
      </p:sp>
      <p:sp>
        <p:nvSpPr>
          <p:cNvPr id="96" name="Text 1"/>
          <p:cNvSpPr txBox="1"/>
          <p:nvPr/>
        </p:nvSpPr>
        <p:spPr>
          <a:xfrm>
            <a:off x="411479" y="759759"/>
            <a:ext cx="1106424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44444"/>
                </a:solidFill>
              </a:defRPr>
            </a:lvl1pPr>
          </a:lstStyle>
          <a:p>
            <a:pPr/>
            <a:r>
              <a:t>Final recommendation for the DriverPass system design.</a:t>
            </a:r>
          </a:p>
        </p:txBody>
      </p:sp>
      <p:sp>
        <p:nvSpPr>
          <p:cNvPr id="97" name="Shape 2"/>
          <p:cNvSpPr/>
          <p:nvPr/>
        </p:nvSpPr>
        <p:spPr>
          <a:xfrm>
            <a:off x="411480" y="987552"/>
            <a:ext cx="11338560" cy="1"/>
          </a:xfrm>
          <a:prstGeom prst="line">
            <a:avLst/>
          </a:prstGeom>
          <a:ln w="12700">
            <a:solidFill>
              <a:srgbClr val="B7C9D8"/>
            </a:solidFill>
          </a:ln>
        </p:spPr>
        <p:txBody>
          <a:bodyPr lIns="45719" rIns="45719"/>
          <a:lstStyle/>
          <a:p>
            <a:pPr/>
          </a:p>
        </p:txBody>
      </p:sp>
      <p:sp>
        <p:nvSpPr>
          <p:cNvPr id="98" name="Text 3"/>
          <p:cNvSpPr txBox="1"/>
          <p:nvPr/>
        </p:nvSpPr>
        <p:spPr>
          <a:xfrm>
            <a:off x="731519" y="1234439"/>
            <a:ext cx="10698482" cy="4114801"/>
          </a:xfrm>
          <a:prstGeom prst="rect">
            <a:avLst/>
          </a:prstGeom>
          <a:ln w="12700">
            <a:miter lim="400000"/>
          </a:ln>
          <a:extLst>
            <a:ext uri="{C572A759-6A51-4108-AA02-DFA0A04FC94B}">
              <ma14:wrappingTextBoxFlag xmlns:ma14="http://schemas.microsoft.com/office/mac/drawingml/2011/main" val="1"/>
            </a:ext>
          </a:extLst>
        </p:spPr>
        <p:txBody>
          <a:bodyPr lIns="1015" tIns="1015" rIns="1015" bIns="1015" anchor="ctr">
            <a:normAutofit fontScale="100000" lnSpcReduction="0"/>
          </a:bodyPr>
          <a:lstStyle/>
          <a:p>
            <a:pPr>
              <a:defRPr sz="1900">
                <a:solidFill>
                  <a:srgbClr val="222222"/>
                </a:solidFill>
              </a:defRPr>
            </a:pPr>
            <a:r>
              <a:t>The proposed design satisfies the core DriverPass requirements from the interview.</a:t>
            </a:r>
          </a:p>
          <a:p>
            <a:pPr>
              <a:defRPr sz="1900">
                <a:solidFill>
                  <a:srgbClr val="222222"/>
                </a:solidFill>
              </a:defRPr>
            </a:pPr>
            <a:r>
              <a:t>All major user groups are represented: customers, secretaries, owner, IT administrator, and DMV updates.</a:t>
            </a:r>
          </a:p>
          <a:p>
            <a:pPr>
              <a:defRPr sz="1900">
                <a:solidFill>
                  <a:srgbClr val="222222"/>
                </a:solidFill>
              </a:defRPr>
            </a:pPr>
            <a:r>
              <a:t>The UML diagrams show user interactions, workflows, system communication, and data structure.</a:t>
            </a:r>
          </a:p>
          <a:p>
            <a:pPr>
              <a:defRPr sz="1900">
                <a:solidFill>
                  <a:srgbClr val="222222"/>
                </a:solidFill>
              </a:defRPr>
            </a:pPr>
            <a:r>
              <a:t>Expanded technical requirements address hardware, software, infrastructure, database, security, backup, and scalability.</a:t>
            </a:r>
          </a:p>
          <a:p>
            <a:pPr>
              <a:defRPr sz="1900">
                <a:solidFill>
                  <a:srgbClr val="222222"/>
                </a:solidFill>
              </a:defRPr>
            </a:pPr>
            <a:r>
              <a:t>The design is secure, organized, client-focused, and ready to guide implementation.</a:t>
            </a:r>
          </a:p>
        </p:txBody>
      </p:sp>
      <p:sp>
        <p:nvSpPr>
          <p:cNvPr id="99" name="Text 4"/>
          <p:cNvSpPr txBox="1"/>
          <p:nvPr/>
        </p:nvSpPr>
        <p:spPr>
          <a:xfrm>
            <a:off x="9784080" y="6520180"/>
            <a:ext cx="1920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800">
                <a:solidFill>
                  <a:srgbClr val="777777"/>
                </a:solidFill>
              </a:defRPr>
            </a:lvl1pPr>
          </a:lstStyle>
          <a:p>
            <a:pPr/>
            <a:r>
              <a:t>CS 255 DriverPass System Analysis | 10</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